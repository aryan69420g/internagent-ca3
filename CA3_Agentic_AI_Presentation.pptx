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4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9DE5DA"/>
                </a:solidFill>
                <a:latin typeface="Aptos"/>
              </a:defRPr>
            </a:pPr>
            <a:r>
              <a:t>CA-3 · AGENTIC AI PROOF OF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6949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"/>
              </a:defRPr>
            </a:pPr>
            <a:r>
              <a:t>InternAgent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2697480"/>
            <a:ext cx="6583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E0EAF6"/>
                </a:solidFill>
                <a:latin typeface="Aptos"/>
              </a:defRPr>
            </a:pPr>
            <a:r>
              <a:t>Internship Matching &amp;</a:t>
            </a:r>
            <a:br/>
            <a:r>
              <a:t>Eligibility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3977639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C2D3E7"/>
                </a:solidFill>
                <a:latin typeface="Aptos"/>
              </a:defRPr>
            </a:pPr>
            <a:r>
              <a:t>A transparent multi-agent workflow for planning, retrieval, matching and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60533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9DE5DA"/>
                </a:solidFill>
                <a:latin typeface="Aptos"/>
              </a:defRPr>
            </a:pPr>
            <a:r>
              <a:t>Aryan Gawande  ·  PRN: 24070126223  ·  Education &amp; Career Development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1417320"/>
            <a:ext cx="2468880" cy="2468880"/>
          </a:xfrm>
          <a:prstGeom prst="ellipse">
            <a:avLst/>
          </a:prstGeom>
          <a:solidFill>
            <a:srgbClr val="3F7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30768" y="2084831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PLAN</a:t>
            </a:r>
            <a:br/>
            <a:r>
              <a:t>MATCH</a:t>
            </a:r>
            <a:br/>
            <a:r>
              <a:t>VERIFY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29768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2D3E7"/>
                </a:solidFill>
                <a:latin typeface="Aptos"/>
              </a:defRPr>
            </a:pPr>
            <a:r>
              <a:t>Python  ·  Streamlit  ·  Pandas</a:t>
            </a:r>
            <a:br/>
            <a:r>
              <a:t>No paid API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2243A"/>
                </a:solidFill>
                <a:latin typeface="Aptos"/>
              </a:defRPr>
            </a:pPr>
            <a:r>
              <a:t>The problem — and 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22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5C6C80"/>
                </a:solidFill>
                <a:latin typeface="Aptos"/>
              </a:defRPr>
            </a:pPr>
            <a:r>
              <a:t>A small, specific workflow that saves repeated manual checking.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73952"/>
            <a:ext cx="11064240" cy="10972"/>
          </a:xfrm>
          <a:prstGeom prst="rect">
            <a:avLst/>
          </a:prstGeom>
          <a:solidFill>
            <a:srgbClr val="DE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651052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5C6C80"/>
                </a:solidFill>
                <a:latin typeface="Aptos"/>
              </a:defRPr>
            </a:pPr>
            <a:r>
              <a:t>INTERNAGENT  ·  CA-3 AGENTIC AI PoC  · 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0138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15A89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534924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82296" cy="3566160"/>
          </a:xfrm>
          <a:prstGeom prst="rect">
            <a:avLst/>
          </a:prstGeom>
          <a:solidFill>
            <a:srgbClr val="EB9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636776"/>
            <a:ext cx="50200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Today’s 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057400"/>
            <a:ext cx="5001768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• Compare listings across multiple sources</a:t>
            </a:r>
            <a:br/>
            <a:br/>
            <a:r>
              <a:t>• Interpret academic year and CGPA requirements</a:t>
            </a:r>
            <a:br/>
            <a:br/>
            <a:r>
              <a:t>• Estimate skill fit and identify missing skills</a:t>
            </a:r>
            <a:br/>
            <a:br/>
            <a:r>
              <a:t>• Trust recommendations without transparent checks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508760"/>
            <a:ext cx="5285232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508760"/>
            <a:ext cx="82296" cy="3566160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636776"/>
            <a:ext cx="4956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InternAgent 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057400"/>
            <a:ext cx="4937760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• Collect a profile and preferences</a:t>
            </a:r>
            <a:br/>
            <a:br/>
            <a:r>
              <a:t>• Retrieve candidates from a synthetic CSV</a:t>
            </a:r>
            <a:br/>
            <a:br/>
            <a:r>
              <a:t>• Apply hard eligibility rules before ranking</a:t>
            </a:r>
            <a:br/>
            <a:br/>
            <a:r>
              <a:t>• Explain scores and ask a Critic Agent to verify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4864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2243A"/>
                </a:solidFill>
                <a:latin typeface="Aptos"/>
              </a:defRPr>
            </a:pPr>
            <a:r>
              <a:t>Outcome: a ranked, explainable shortlist with eligibility evidence and skill gaps.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2243A"/>
                </a:solidFill>
                <a:latin typeface="Aptos"/>
              </a:defRPr>
            </a:pPr>
            <a:r>
              <a:t>Architecture and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22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5C6C80"/>
                </a:solidFill>
                <a:latin typeface="Aptos"/>
              </a:defRPr>
            </a:pPr>
            <a:r>
              <a:t>Agents exchange structured outputs; the Critic can trigger one repair/revalidation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73952"/>
            <a:ext cx="11064240" cy="10972"/>
          </a:xfrm>
          <a:prstGeom prst="rect">
            <a:avLst/>
          </a:prstGeom>
          <a:solidFill>
            <a:srgbClr val="DE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651052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5C6C80"/>
                </a:solidFill>
                <a:latin typeface="Aptos"/>
              </a:defRPr>
            </a:pPr>
            <a:r>
              <a:t>INTERNAGENT  ·  CA-3 AGENTIC AI PoC  · 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0138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15A897"/>
                </a:solidFill>
                <a:latin typeface="Aptos"/>
              </a:defRPr>
            </a:pPr>
            <a:r>
              <a:t>03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1097280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2243A"/>
                </a:solidFill>
                <a:latin typeface="Aptos"/>
              </a:defRPr>
            </a:pPr>
            <a:r>
              <a:t>Agent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22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5C6C80"/>
                </a:solidFill>
                <a:latin typeface="Aptos"/>
              </a:defRPr>
            </a:pPr>
            <a:r>
              <a:t>Separate stages with explicit inputs, outputs and validation responsibilities.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73952"/>
            <a:ext cx="11064240" cy="10972"/>
          </a:xfrm>
          <a:prstGeom prst="rect">
            <a:avLst/>
          </a:prstGeom>
          <a:solidFill>
            <a:srgbClr val="DE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651052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5C6C80"/>
                </a:solidFill>
                <a:latin typeface="Aptos"/>
              </a:defRPr>
            </a:pPr>
            <a:r>
              <a:t>INTERNAGENT  ·  CA-3 AGENTIC AI PoC  · 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0138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15A89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17320"/>
            <a:ext cx="82296" cy="1645920"/>
          </a:xfrm>
          <a:prstGeom prst="rect">
            <a:avLst/>
          </a:prstGeom>
          <a:solidFill>
            <a:srgbClr val="3F7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545336"/>
            <a:ext cx="49743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1 · Planner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1965960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Creates an ordered plan: profile → retrieval → eligibility → score → validate.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82296" cy="1645920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545336"/>
            <a:ext cx="49743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2 · Research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965960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Loads the fictional CSV and applies the minimum-stipend preference.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3756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337560"/>
            <a:ext cx="82296" cy="1645920"/>
          </a:xfrm>
          <a:prstGeom prst="rect">
            <a:avLst/>
          </a:prstGeom>
          <a:solidFill>
            <a:srgbClr val="3F7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3465576"/>
            <a:ext cx="49743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3 · Matching &amp; Eligibility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" y="3886200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Applies year/CGPA hard gates, computes match components and surfaces skill gaps.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37560"/>
            <a:ext cx="530352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82296" cy="1645920"/>
          </a:xfrm>
          <a:prstGeom prst="rect">
            <a:avLst/>
          </a:prstGeom>
          <a:solidFill>
            <a:srgbClr val="EB9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65576"/>
            <a:ext cx="49743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4 · Critic / Validation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3886200"/>
            <a:ext cx="495604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Independently recomputes scores and checks eligibility, bounds, order, IDs and top-k.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2243A"/>
                </a:solidFill>
                <a:latin typeface="Aptos"/>
              </a:defRPr>
            </a:pPr>
            <a:r>
              <a:t>Orchestrator: runs stages in order and permits one bounded repair/revalidation pass.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2243A"/>
                </a:solidFill>
                <a:latin typeface="Aptos"/>
              </a:defRPr>
            </a:pPr>
            <a:r>
              <a:t>Explainable scoring — eligibility is separate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22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5C6C80"/>
                </a:solidFill>
                <a:latin typeface="Aptos"/>
              </a:defRPr>
            </a:pPr>
            <a:r>
              <a:t>Score is a fit heuristic, not a probability of getting hired.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73952"/>
            <a:ext cx="11064240" cy="10972"/>
          </a:xfrm>
          <a:prstGeom prst="rect">
            <a:avLst/>
          </a:prstGeom>
          <a:solidFill>
            <a:srgbClr val="DE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651052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5C6C80"/>
                </a:solidFill>
                <a:latin typeface="Aptos"/>
              </a:defRPr>
            </a:pPr>
            <a:r>
              <a:t>INTERNAGENT  ·  CA-3 AGENTIC AI PoC  · 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0138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15A89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1828800" cy="621792"/>
          </a:xfrm>
          <a:prstGeom prst="roundRect">
            <a:avLst/>
          </a:prstGeom>
          <a:solidFill>
            <a:srgbClr val="3F7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7276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55%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55448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Required 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450592"/>
            <a:ext cx="1828800" cy="621792"/>
          </a:xfrm>
          <a:prstGeom prst="round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56032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42032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Domain interest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38144"/>
            <a:ext cx="1828800" cy="621792"/>
          </a:xfrm>
          <a:prstGeom prst="roundRect">
            <a:avLst/>
          </a:prstGeom>
          <a:solidFill>
            <a:srgbClr val="EB9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4787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10%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529584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Location / work mode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425696"/>
            <a:ext cx="1828800" cy="621792"/>
          </a:xfrm>
          <a:prstGeom prst="roundRect">
            <a:avLst/>
          </a:prstGeom>
          <a:solidFill>
            <a:srgbClr val="12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53542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Aptos"/>
              </a:defRPr>
            </a:pPr>
            <a: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517136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CGPA buffer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72768"/>
            <a:ext cx="3017520" cy="297180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72768"/>
            <a:ext cx="82296" cy="2971800"/>
          </a:xfrm>
          <a:prstGeom prst="rect">
            <a:avLst/>
          </a:prstGeom>
          <a:solidFill>
            <a:srgbClr val="EB9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0768" y="1700784"/>
            <a:ext cx="26883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Hard eligibility 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30768" y="2121408"/>
            <a:ext cx="2670048" cy="2350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Academic year must be within the role range and CGPA must meet the minimum.</a:t>
            </a:r>
            <a:br/>
            <a:br/>
            <a:r>
              <a:t>Missing skills reduce ranking fit but do not automatically disqualify.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6235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5C6C80"/>
                </a:solidFill>
                <a:latin typeface="Aptos"/>
              </a:defRPr>
            </a:pPr>
            <a:r>
              <a:t>Scores are clamped to 0–100; ranked roles include skill gaps and score components.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2243A"/>
                </a:solidFill>
                <a:latin typeface="Aptos"/>
              </a:defRPr>
            </a:pPr>
            <a:r>
              <a:t>PoC demonstration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22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5C6C80"/>
                </a:solidFill>
                <a:latin typeface="Aptos"/>
              </a:defRPr>
            </a:pPr>
            <a:r>
              <a:t>Default demo profile: Year 2 · CGPA 7.5 · Python / ML / Pandas / Scikit-learn /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73952"/>
            <a:ext cx="11064240" cy="10972"/>
          </a:xfrm>
          <a:prstGeom prst="rect">
            <a:avLst/>
          </a:prstGeom>
          <a:solidFill>
            <a:srgbClr val="DE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651052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5C6C80"/>
                </a:solidFill>
                <a:latin typeface="Aptos"/>
              </a:defRPr>
            </a:pPr>
            <a:r>
              <a:t>INTERNAGENT  ·  CA-3 AGENTIC AI PoC  · 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0138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15A89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17320"/>
            <a:ext cx="3474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417320"/>
            <a:ext cx="82296" cy="2011680"/>
          </a:xfrm>
          <a:prstGeom prst="rect">
            <a:avLst/>
          </a:prstGeom>
          <a:solidFill>
            <a:srgbClr val="3F7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545336"/>
            <a:ext cx="3145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12 source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312724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All listings and organization names are synthetic.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417320"/>
            <a:ext cx="3474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0832" y="1417320"/>
            <a:ext cx="82296" cy="2011680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545336"/>
            <a:ext cx="3145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Ranked shortlist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965960"/>
            <a:ext cx="312724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Up to three eligible results with explanations and skill gaps.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5008" y="1417320"/>
            <a:ext cx="34747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5008" y="1417320"/>
            <a:ext cx="82296" cy="2011680"/>
          </a:xfrm>
          <a:prstGeom prst="rect">
            <a:avLst/>
          </a:prstGeom>
          <a:solidFill>
            <a:srgbClr val="EB9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6176" y="1545336"/>
            <a:ext cx="31455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Critic 5 /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6176" y="1965960"/>
            <a:ext cx="3127248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Five checks validate the returned recommendations.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886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2243A"/>
                </a:solidFill>
                <a:latin typeface="Aptos"/>
              </a:defRPr>
            </a:pPr>
            <a:r>
              <a:t>Six unit tests passed in the authoring environment.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5262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5C6C80"/>
                </a:solidFill>
                <a:latin typeface="Aptos"/>
              </a:defRPr>
            </a:pPr>
            <a:r>
              <a:t>Live demo sequence: run workflow → inspect score chart → expand a role → show validation and execution trace → inspect ineligible roles → download CSV/JSON.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2243A"/>
                </a:solidFill>
                <a:latin typeface="Aptos"/>
              </a:defRPr>
            </a:pPr>
            <a:r>
              <a:t>Limitations, future scope and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5216" y="8229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5C6C80"/>
                </a:solidFill>
                <a:latin typeface="Aptos"/>
              </a:defRPr>
            </a:pPr>
            <a:r>
              <a:t>Built to demonstrate meaningful orchestration without unnecessary complexity.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73952"/>
            <a:ext cx="11064240" cy="10972"/>
          </a:xfrm>
          <a:prstGeom prst="rect">
            <a:avLst/>
          </a:prstGeom>
          <a:solidFill>
            <a:srgbClr val="DEE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6510528"/>
            <a:ext cx="9875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0">
                <a:solidFill>
                  <a:srgbClr val="5C6C80"/>
                </a:solidFill>
                <a:latin typeface="Aptos"/>
              </a:defRPr>
            </a:pPr>
            <a:r>
              <a:t>INTERNAGENT  ·  CA-3 AGENTIC AI PoC  · 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0138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15A89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534924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417320"/>
            <a:ext cx="82296" cy="3291840"/>
          </a:xfrm>
          <a:prstGeom prst="rect">
            <a:avLst/>
          </a:prstGeom>
          <a:solidFill>
            <a:srgbClr val="EB9E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45336"/>
            <a:ext cx="50200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Current limitations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965960"/>
            <a:ext cx="5001768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• Synthetic and small dataset</a:t>
            </a:r>
            <a:br/>
            <a:br/>
            <a:r>
              <a:t>• Exact normalized skill labels</a:t>
            </a:r>
            <a:br/>
            <a:br/>
            <a:r>
              <a:t>• Simplified academic rules</a:t>
            </a:r>
            <a:br/>
            <a:br/>
            <a:r>
              <a:t>• No live postings or application submission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17320"/>
            <a:ext cx="534924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DCE4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17320"/>
            <a:ext cx="82296" cy="3291840"/>
          </a:xfrm>
          <a:prstGeom prst="rect">
            <a:avLst/>
          </a:prstGeom>
          <a:solidFill>
            <a:srgbClr val="15A8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545336"/>
            <a:ext cx="502005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2243A"/>
                </a:solidFill>
                <a:latin typeface="Aptos"/>
              </a:defRPr>
            </a:pPr>
            <a:r>
              <a:t>Future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965960"/>
            <a:ext cx="5001768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0">
                <a:solidFill>
                  <a:srgbClr val="5C6C80"/>
                </a:solidFill>
                <a:latin typeface="Aptos"/>
              </a:defRPr>
            </a:pPr>
            <a:r>
              <a:t>• Verified, refreshed internship sources</a:t>
            </a:r>
            <a:br/>
            <a:br/>
            <a:r>
              <a:t>• Semantic skill matching</a:t>
            </a:r>
            <a:br/>
            <a:br/>
            <a:r>
              <a:t>• LangGraph orchestration</a:t>
            </a:r>
            <a:br/>
            <a:br/>
            <a:r>
              <a:t>• Local-model explanations and application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25780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2243A"/>
                </a:solidFill>
                <a:latin typeface="Aptos"/>
              </a:defRPr>
            </a:pPr>
            <a:r>
              <a:t>Agentic value = planning + tool use + decisions + independent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978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5A897"/>
                </a:solidFill>
                <a:latin typeface="Aptos"/>
              </a:defRPr>
            </a:pPr>
            <a:r>
              <a:t>Thank you ·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